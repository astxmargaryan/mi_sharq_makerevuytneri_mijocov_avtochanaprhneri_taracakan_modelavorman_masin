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nva Sans" panose="020B0503030501040103"/>
      <p:regular r:id="rId19"/>
    </p:embeddedFont>
    <p:embeddedFont>
      <p:font typeface="Clear Sans" panose="020B0503030202020304" pitchFamily="34" charset="0"/>
      <p:regular r:id="rId20"/>
    </p:embeddedFont>
    <p:embeddedFont>
      <p:font typeface="Clear Sans Medium" panose="020B0603030202020304" pitchFamily="3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94593" autoAdjust="0"/>
  </p:normalViewPr>
  <p:slideViewPr>
    <p:cSldViewPr>
      <p:cViewPr>
        <p:scale>
          <a:sx n="52" d="100"/>
          <a:sy n="52" d="100"/>
        </p:scale>
        <p:origin x="696" y="10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stxMargaryan/mi_sharq_makerevuytneri_mijocov_avtochanaprhneri_taracakan_modelavorman_masin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42574" y="933450"/>
            <a:ext cx="12828131" cy="1655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29"/>
              </a:lnSpc>
              <a:spcBef>
                <a:spcPct val="0"/>
              </a:spcBef>
            </a:pPr>
            <a:r>
              <a:rPr lang="en-US" sz="4806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Հայաստանի ազգային պոլիտեխնիկական</a:t>
            </a:r>
          </a:p>
          <a:p>
            <a:pPr algn="ctr">
              <a:lnSpc>
                <a:spcPts val="6729"/>
              </a:lnSpc>
              <a:spcBef>
                <a:spcPct val="0"/>
              </a:spcBef>
            </a:pPr>
            <a:r>
              <a:rPr lang="en-US" sz="4806">
                <a:solidFill>
                  <a:srgbClr val="FFFFFF"/>
                </a:solidFill>
                <a:latin typeface="Clear Sans"/>
                <a:ea typeface="Clear Sans"/>
                <a:cs typeface="Clear Sans"/>
                <a:sym typeface="Clear Sans"/>
              </a:rPr>
              <a:t> համալսարան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3935062" y="2934834"/>
            <a:ext cx="10701561" cy="1436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97"/>
              </a:lnSpc>
              <a:spcBef>
                <a:spcPct val="0"/>
              </a:spcBef>
            </a:pPr>
            <a:r>
              <a:rPr lang="en-US" sz="4141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ԱՎԱՐՏԱԿԱՆ ԱՇԽԱՏԱՆՔ</a:t>
            </a:r>
          </a:p>
          <a:p>
            <a:pPr algn="ctr">
              <a:lnSpc>
                <a:spcPts val="5797"/>
              </a:lnSpc>
              <a:spcBef>
                <a:spcPct val="0"/>
              </a:spcBef>
            </a:pPr>
            <a:endParaRPr lang="en-US" sz="4141" b="1">
              <a:solidFill>
                <a:srgbClr val="FFFFFF"/>
              </a:solidFill>
              <a:latin typeface="Clear Sans Medium"/>
              <a:ea typeface="Clear Sans Medium"/>
              <a:cs typeface="Clear Sans Medium"/>
              <a:sym typeface="Clear Sans Medium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851218" y="4000324"/>
            <a:ext cx="13119486" cy="1193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15"/>
              </a:lnSpc>
            </a:pPr>
            <a:r>
              <a:rPr lang="en-US" sz="3439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Թեմա՝  Մի շարք մակերևույթների միջոցով </a:t>
            </a:r>
          </a:p>
          <a:p>
            <a:pPr algn="ctr">
              <a:lnSpc>
                <a:spcPts val="4815"/>
              </a:lnSpc>
              <a:spcBef>
                <a:spcPct val="0"/>
              </a:spcBef>
            </a:pPr>
            <a:r>
              <a:rPr lang="en-US" sz="3439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ավտոճանապարհների տարածական մոդելավորման մասին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064017" y="5777222"/>
            <a:ext cx="9020621" cy="878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37"/>
              </a:lnSpc>
              <a:spcBef>
                <a:spcPct val="0"/>
              </a:spcBef>
            </a:pPr>
            <a:r>
              <a:rPr lang="en-US" sz="2526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ՄԹ240 խմբի ուսանողուհի՝ Աստղիկ Մարգարյան Արսենի</a:t>
            </a:r>
          </a:p>
          <a:p>
            <a:pPr algn="ctr">
              <a:lnSpc>
                <a:spcPts val="3537"/>
              </a:lnSpc>
              <a:spcBef>
                <a:spcPct val="0"/>
              </a:spcBef>
            </a:pPr>
            <a:endParaRPr lang="en-US" sz="2526" b="1">
              <a:solidFill>
                <a:srgbClr val="FFFFFF"/>
              </a:solidFill>
              <a:latin typeface="Clear Sans Medium"/>
              <a:ea typeface="Clear Sans Medium"/>
              <a:cs typeface="Clear Sans Medium"/>
              <a:sym typeface="Clear Sans Medium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64017" y="6608392"/>
            <a:ext cx="10985245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Աշխատանքի ղեկավար՝  ֆ.մ.գ.թ., դոցենտ Գրիգորի Սերգեյի Մաչկալյան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12150" y="8777122"/>
            <a:ext cx="3213050" cy="4735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28"/>
              </a:lnSpc>
              <a:spcBef>
                <a:spcPct val="0"/>
              </a:spcBef>
            </a:pPr>
            <a:r>
              <a:rPr lang="en-US" sz="280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ԵՐԵՎԱՆ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654930" y="1233994"/>
            <a:ext cx="9381692" cy="6794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  <a:spcBef>
                <a:spcPct val="0"/>
              </a:spcBef>
            </a:pPr>
            <a:r>
              <a:rPr lang="en-US" sz="3999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Խնդրի Դրվածք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430460"/>
            <a:ext cx="17259300" cy="2501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7"/>
              </a:lnSpc>
              <a:spcBef>
                <a:spcPct val="0"/>
              </a:spcBef>
            </a:pPr>
            <a:r>
              <a:rPr lang="en-US" sz="2405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Ավտոմոբիլային ճանապարհների նախագծման և վերանորոգման օպտիմալացման նպատակով տրված տարածական ուղղորդ կորի և տարբեր լայնական հատույթների (եռանկյուն, ուղղանկյուն, T-աձև) հիման վրա անհրաժեշտ է կառուցել տուփաձև մակերևույթի նիստերի պարամետրական հավասարումները և իրականացնել դրանց գրաֆիկական պատկերները՝ հողի տեղափոխման ծավալների նվազեցման, նորմատիվային թեքությունների պահպանման և վերանորոգման արժեքի կրճատման համար։</a:t>
            </a:r>
          </a:p>
          <a:p>
            <a:pPr algn="l">
              <a:lnSpc>
                <a:spcPts val="3367"/>
              </a:lnSpc>
              <a:spcBef>
                <a:spcPct val="0"/>
              </a:spcBef>
            </a:pPr>
            <a:endParaRPr lang="en-US" sz="2405" b="1">
              <a:solidFill>
                <a:srgbClr val="FFFFFF"/>
              </a:solidFill>
              <a:latin typeface="Clear Sans Medium"/>
              <a:ea typeface="Clear Sans Medium"/>
              <a:cs typeface="Clear Sans Medium"/>
              <a:sym typeface="Clear Sans Medium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38695" y="1888513"/>
            <a:ext cx="15810610" cy="1471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Խնդրի լուծման համար որպես մաթեմատիկական մեթոդ դիտարկենք բազմանիստ տուփաձև կորագիծ մակերևույթների երկրաչափությունը՝ հիմնված ցիկլիկ մակերևույթների վրա: 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3383938"/>
            <a:ext cx="9449363" cy="6524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10358" lvl="1" indent="-305179" algn="l">
              <a:lnSpc>
                <a:spcPts val="3957"/>
              </a:lnSpc>
              <a:buFont typeface="Arial"/>
              <a:buChar char="•"/>
            </a:pP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Կամայական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շառավղով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շրջանագծի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մեջ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կարելի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է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ներգծել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հավասարակողմ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բազմանկյուն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,</a:t>
            </a:r>
          </a:p>
          <a:p>
            <a:pPr marL="575425" lvl="1" indent="-287712" algn="l">
              <a:lnSpc>
                <a:spcPts val="3731"/>
              </a:lnSpc>
              <a:buFont typeface="Arial"/>
              <a:buChar char="•"/>
            </a:pP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Շրջանագծի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մեջ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ներգծվում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է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2φ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անկյունով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լար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,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որտեղ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φ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= π/K(K-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ն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հավասար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է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հավասարակողմ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բազմանկյան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կողմերի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665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քանակին</a:t>
            </a:r>
            <a:r>
              <a:rPr lang="en-US" sz="2665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),</a:t>
            </a:r>
          </a:p>
          <a:p>
            <a:pPr marL="610358" lvl="1" indent="-305179" algn="l">
              <a:lnSpc>
                <a:spcPts val="3957"/>
              </a:lnSpc>
              <a:buFont typeface="Arial"/>
              <a:buChar char="•"/>
            </a:pP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Լարն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կրկնելով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K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անգամ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՝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յուրաքանչյուր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անգամ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պտտվելով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2φ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անկյան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տակ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,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ստանում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ենք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փակ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հավասարակողմ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բազմանկյուն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,</a:t>
            </a:r>
          </a:p>
          <a:p>
            <a:pPr marL="610358" lvl="1" indent="-305179" algn="l">
              <a:lnSpc>
                <a:spcPts val="3957"/>
              </a:lnSpc>
              <a:buFont typeface="Arial"/>
              <a:buChar char="•"/>
            </a:pP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Բազմանկյունը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տեղափոխելով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ցիկլիկ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մակերևույթը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առաջացնող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շրջանագծի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հետ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միասին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ուղղորդ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կորի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երկայնքով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կարելի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է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ստանալ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փոփոխական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լայնական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հատույթով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կորագիծ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բազմանիստ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տուփաձև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 </a:t>
            </a:r>
            <a:r>
              <a:rPr lang="en-US" sz="2827" b="1" dirty="0" err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մակերևույթ</a:t>
            </a:r>
            <a:r>
              <a:rPr lang="en-US" sz="2827" b="1" dirty="0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262665" y="659130"/>
            <a:ext cx="6399163" cy="662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59"/>
              </a:lnSpc>
              <a:spcBef>
                <a:spcPct val="0"/>
              </a:spcBef>
            </a:pPr>
            <a:r>
              <a:rPr lang="en-US" sz="3899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Տուփաձև  մակերևույթներ </a:t>
            </a:r>
          </a:p>
        </p:txBody>
      </p:sp>
      <p:sp>
        <p:nvSpPr>
          <p:cNvPr id="5" name="Freeform 5"/>
          <p:cNvSpPr/>
          <p:nvPr/>
        </p:nvSpPr>
        <p:spPr>
          <a:xfrm>
            <a:off x="11067145" y="3360443"/>
            <a:ext cx="6967104" cy="5180667"/>
          </a:xfrm>
          <a:custGeom>
            <a:avLst/>
            <a:gdLst/>
            <a:ahLst/>
            <a:cxnLst/>
            <a:rect l="l" t="t" r="r" b="b"/>
            <a:pathLst>
              <a:path w="6967104" h="5180667">
                <a:moveTo>
                  <a:pt x="0" y="0"/>
                </a:moveTo>
                <a:lnTo>
                  <a:pt x="6967104" y="0"/>
                </a:lnTo>
                <a:lnTo>
                  <a:pt x="6967104" y="5180667"/>
                </a:lnTo>
                <a:lnTo>
                  <a:pt x="0" y="51806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6" name="TextBox 6"/>
          <p:cNvSpPr txBox="1"/>
          <p:nvPr/>
        </p:nvSpPr>
        <p:spPr>
          <a:xfrm>
            <a:off x="12661828" y="8852535"/>
            <a:ext cx="4321448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Բազային ցիկլիկ մակերևույթ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70049" y="2503318"/>
            <a:ext cx="6538997" cy="5836522"/>
          </a:xfrm>
          <a:custGeom>
            <a:avLst/>
            <a:gdLst/>
            <a:ahLst/>
            <a:cxnLst/>
            <a:rect l="l" t="t" r="r" b="b"/>
            <a:pathLst>
              <a:path w="6538997" h="5836522">
                <a:moveTo>
                  <a:pt x="0" y="0"/>
                </a:moveTo>
                <a:lnTo>
                  <a:pt x="6538997" y="0"/>
                </a:lnTo>
                <a:lnTo>
                  <a:pt x="6538997" y="5836522"/>
                </a:lnTo>
                <a:lnTo>
                  <a:pt x="0" y="58365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90" t="-4150" r="-4978" b="-934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200047" y="2503318"/>
            <a:ext cx="10898032" cy="5836522"/>
          </a:xfrm>
          <a:custGeom>
            <a:avLst/>
            <a:gdLst/>
            <a:ahLst/>
            <a:cxnLst/>
            <a:rect l="l" t="t" r="r" b="b"/>
            <a:pathLst>
              <a:path w="10898032" h="5836522">
                <a:moveTo>
                  <a:pt x="0" y="0"/>
                </a:moveTo>
                <a:lnTo>
                  <a:pt x="10898032" y="0"/>
                </a:lnTo>
                <a:lnTo>
                  <a:pt x="10898032" y="5836522"/>
                </a:lnTo>
                <a:lnTo>
                  <a:pt x="0" y="58365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036" t="-9698" r="-2855" b="-5689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4" name="TextBox 4"/>
          <p:cNvSpPr txBox="1"/>
          <p:nvPr/>
        </p:nvSpPr>
        <p:spPr>
          <a:xfrm>
            <a:off x="1014480" y="802005"/>
            <a:ext cx="9269164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Բազային ցիկլիկ մակերևույթի վեկտորական հավասարումն է՝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733939" y="8583285"/>
            <a:ext cx="5811217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Ցիկլիկ մակերևույթի երկրաչափական 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մեկնաբանություն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723091" y="3212208"/>
            <a:ext cx="10841818" cy="4752095"/>
          </a:xfrm>
          <a:custGeom>
            <a:avLst/>
            <a:gdLst/>
            <a:ahLst/>
            <a:cxnLst/>
            <a:rect l="l" t="t" r="r" b="b"/>
            <a:pathLst>
              <a:path w="10841818" h="4752095">
                <a:moveTo>
                  <a:pt x="0" y="0"/>
                </a:moveTo>
                <a:lnTo>
                  <a:pt x="10841818" y="0"/>
                </a:lnTo>
                <a:lnTo>
                  <a:pt x="10841818" y="4752096"/>
                </a:lnTo>
                <a:lnTo>
                  <a:pt x="0" y="47520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05" t="-30712" r="-2279" b="-17374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TextBox 3"/>
          <p:cNvSpPr txBox="1"/>
          <p:nvPr/>
        </p:nvSpPr>
        <p:spPr>
          <a:xfrm>
            <a:off x="1426017" y="1702360"/>
            <a:ext cx="11667306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FFFFFF"/>
                </a:solidFill>
                <a:latin typeface="Clear Sans Medium"/>
                <a:ea typeface="Clear Sans Medium"/>
                <a:cs typeface="Clear Sans Medium"/>
                <a:sym typeface="Clear Sans Medium"/>
              </a:rPr>
              <a:t>Վերջնական տուփաձև մակերևույթի պարամետրական հավասարումը կլինի`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993243" y="1159959"/>
            <a:ext cx="14791491" cy="8098341"/>
          </a:xfrm>
          <a:custGeom>
            <a:avLst/>
            <a:gdLst/>
            <a:ahLst/>
            <a:cxnLst/>
            <a:rect l="l" t="t" r="r" b="b"/>
            <a:pathLst>
              <a:path w="14791491" h="8098341">
                <a:moveTo>
                  <a:pt x="0" y="0"/>
                </a:moveTo>
                <a:lnTo>
                  <a:pt x="14791491" y="0"/>
                </a:lnTo>
                <a:lnTo>
                  <a:pt x="14791491" y="8098341"/>
                </a:lnTo>
                <a:lnTo>
                  <a:pt x="0" y="80983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19231" y="295963"/>
            <a:ext cx="7089523" cy="9695074"/>
          </a:xfrm>
          <a:custGeom>
            <a:avLst/>
            <a:gdLst/>
            <a:ahLst/>
            <a:cxnLst/>
            <a:rect l="l" t="t" r="r" b="b"/>
            <a:pathLst>
              <a:path w="7089523" h="9695074">
                <a:moveTo>
                  <a:pt x="0" y="0"/>
                </a:moveTo>
                <a:lnTo>
                  <a:pt x="7089523" y="0"/>
                </a:lnTo>
                <a:lnTo>
                  <a:pt x="7089523" y="9695074"/>
                </a:lnTo>
                <a:lnTo>
                  <a:pt x="0" y="96950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8620880" y="295963"/>
            <a:ext cx="9293210" cy="9731437"/>
          </a:xfrm>
          <a:custGeom>
            <a:avLst/>
            <a:gdLst/>
            <a:ahLst/>
            <a:cxnLst/>
            <a:rect l="l" t="t" r="r" b="b"/>
            <a:pathLst>
              <a:path w="9293210" h="9731437">
                <a:moveTo>
                  <a:pt x="0" y="0"/>
                </a:moveTo>
                <a:lnTo>
                  <a:pt x="9293210" y="0"/>
                </a:lnTo>
                <a:lnTo>
                  <a:pt x="9293210" y="9731437"/>
                </a:lnTo>
                <a:lnTo>
                  <a:pt x="0" y="973143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946" r="-2303" b="-1015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03385" y="325568"/>
            <a:ext cx="7069387" cy="9660521"/>
          </a:xfrm>
          <a:custGeom>
            <a:avLst/>
            <a:gdLst/>
            <a:ahLst/>
            <a:cxnLst/>
            <a:rect l="l" t="t" r="r" b="b"/>
            <a:pathLst>
              <a:path w="7069387" h="9660521">
                <a:moveTo>
                  <a:pt x="0" y="0"/>
                </a:moveTo>
                <a:lnTo>
                  <a:pt x="7069387" y="0"/>
                </a:lnTo>
                <a:lnTo>
                  <a:pt x="7069387" y="9660521"/>
                </a:lnTo>
                <a:lnTo>
                  <a:pt x="0" y="96605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02" b="-3114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8493487" y="325568"/>
            <a:ext cx="9232512" cy="9635864"/>
          </a:xfrm>
          <a:custGeom>
            <a:avLst/>
            <a:gdLst/>
            <a:ahLst/>
            <a:cxnLst/>
            <a:rect l="l" t="t" r="r" b="b"/>
            <a:pathLst>
              <a:path w="9232512" h="9635864">
                <a:moveTo>
                  <a:pt x="0" y="0"/>
                </a:moveTo>
                <a:lnTo>
                  <a:pt x="9232512" y="0"/>
                </a:lnTo>
                <a:lnTo>
                  <a:pt x="9232512" y="9635864"/>
                </a:lnTo>
                <a:lnTo>
                  <a:pt x="0" y="96358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3586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96829" y="105079"/>
            <a:ext cx="8294341" cy="10076843"/>
          </a:xfrm>
          <a:custGeom>
            <a:avLst/>
            <a:gdLst/>
            <a:ahLst/>
            <a:cxnLst/>
            <a:rect l="l" t="t" r="r" b="b"/>
            <a:pathLst>
              <a:path w="8294341" h="10076843">
                <a:moveTo>
                  <a:pt x="0" y="0"/>
                </a:moveTo>
                <a:lnTo>
                  <a:pt x="8294342" y="0"/>
                </a:lnTo>
                <a:lnTo>
                  <a:pt x="8294342" y="10076842"/>
                </a:lnTo>
                <a:lnTo>
                  <a:pt x="0" y="1007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66" b="-266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26927" y="311862"/>
            <a:ext cx="6996480" cy="9789476"/>
          </a:xfrm>
          <a:custGeom>
            <a:avLst/>
            <a:gdLst/>
            <a:ahLst/>
            <a:cxnLst/>
            <a:rect l="l" t="t" r="r" b="b"/>
            <a:pathLst>
              <a:path w="6996480" h="9789476">
                <a:moveTo>
                  <a:pt x="0" y="0"/>
                </a:moveTo>
                <a:lnTo>
                  <a:pt x="6996480" y="0"/>
                </a:lnTo>
                <a:lnTo>
                  <a:pt x="6996480" y="9789476"/>
                </a:lnTo>
                <a:lnTo>
                  <a:pt x="0" y="978947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8" r="-458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9751951" y="311862"/>
            <a:ext cx="7270856" cy="9837948"/>
          </a:xfrm>
          <a:custGeom>
            <a:avLst/>
            <a:gdLst/>
            <a:ahLst/>
            <a:cxnLst/>
            <a:rect l="l" t="t" r="r" b="b"/>
            <a:pathLst>
              <a:path w="7270856" h="9837948">
                <a:moveTo>
                  <a:pt x="0" y="0"/>
                </a:moveTo>
                <a:lnTo>
                  <a:pt x="7270855" y="0"/>
                </a:lnTo>
                <a:lnTo>
                  <a:pt x="7270855" y="9837948"/>
                </a:lnTo>
                <a:lnTo>
                  <a:pt x="0" y="98379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161" t="-863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9379" y="0"/>
            <a:ext cx="8666798" cy="10287000"/>
          </a:xfrm>
          <a:custGeom>
            <a:avLst/>
            <a:gdLst/>
            <a:ahLst/>
            <a:cxnLst/>
            <a:rect l="l" t="t" r="r" b="b"/>
            <a:pathLst>
              <a:path w="8666798" h="10287000">
                <a:moveTo>
                  <a:pt x="0" y="0"/>
                </a:moveTo>
                <a:lnTo>
                  <a:pt x="8666797" y="0"/>
                </a:lnTo>
                <a:lnTo>
                  <a:pt x="866679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9808605" y="2923774"/>
            <a:ext cx="7645551" cy="5133899"/>
          </a:xfrm>
          <a:custGeom>
            <a:avLst/>
            <a:gdLst/>
            <a:ahLst/>
            <a:cxnLst/>
            <a:rect l="l" t="t" r="r" b="b"/>
            <a:pathLst>
              <a:path w="7645551" h="5133899">
                <a:moveTo>
                  <a:pt x="0" y="0"/>
                </a:moveTo>
                <a:lnTo>
                  <a:pt x="7645551" y="0"/>
                </a:lnTo>
                <a:lnTo>
                  <a:pt x="7645551" y="5133899"/>
                </a:lnTo>
                <a:lnTo>
                  <a:pt x="0" y="513389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409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87842" y="607736"/>
            <a:ext cx="5870580" cy="7769040"/>
          </a:xfrm>
          <a:custGeom>
            <a:avLst/>
            <a:gdLst/>
            <a:ahLst/>
            <a:cxnLst/>
            <a:rect l="l" t="t" r="r" b="b"/>
            <a:pathLst>
              <a:path w="5870580" h="7769040">
                <a:moveTo>
                  <a:pt x="0" y="0"/>
                </a:moveTo>
                <a:lnTo>
                  <a:pt x="5870580" y="0"/>
                </a:lnTo>
                <a:lnTo>
                  <a:pt x="5870580" y="7769040"/>
                </a:lnTo>
                <a:lnTo>
                  <a:pt x="0" y="77690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301" r="-2687" b="-428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6239397" y="607736"/>
            <a:ext cx="5440947" cy="7769040"/>
          </a:xfrm>
          <a:custGeom>
            <a:avLst/>
            <a:gdLst/>
            <a:ahLst/>
            <a:cxnLst/>
            <a:rect l="l" t="t" r="r" b="b"/>
            <a:pathLst>
              <a:path w="5440947" h="7769040">
                <a:moveTo>
                  <a:pt x="0" y="0"/>
                </a:moveTo>
                <a:lnTo>
                  <a:pt x="5440947" y="0"/>
                </a:lnTo>
                <a:lnTo>
                  <a:pt x="5440947" y="7769040"/>
                </a:lnTo>
                <a:lnTo>
                  <a:pt x="0" y="77690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413"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4" name="Freeform 4"/>
          <p:cNvSpPr/>
          <p:nvPr/>
        </p:nvSpPr>
        <p:spPr>
          <a:xfrm>
            <a:off x="11861319" y="1892468"/>
            <a:ext cx="5974726" cy="6041483"/>
          </a:xfrm>
          <a:custGeom>
            <a:avLst/>
            <a:gdLst/>
            <a:ahLst/>
            <a:cxnLst/>
            <a:rect l="l" t="t" r="r" b="b"/>
            <a:pathLst>
              <a:path w="5974726" h="6041483">
                <a:moveTo>
                  <a:pt x="0" y="0"/>
                </a:moveTo>
                <a:lnTo>
                  <a:pt x="5974726" y="0"/>
                </a:lnTo>
                <a:lnTo>
                  <a:pt x="5974726" y="6041483"/>
                </a:lnTo>
                <a:lnTo>
                  <a:pt x="0" y="60414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111384">
            <a:off x="13680135" y="1098024"/>
            <a:ext cx="12122938" cy="11672351"/>
          </a:xfrm>
          <a:custGeom>
            <a:avLst/>
            <a:gdLst/>
            <a:ahLst/>
            <a:cxnLst/>
            <a:rect l="l" t="t" r="r" b="b"/>
            <a:pathLst>
              <a:path w="12122938" h="11672351">
                <a:moveTo>
                  <a:pt x="0" y="0"/>
                </a:moveTo>
                <a:lnTo>
                  <a:pt x="12122939" y="0"/>
                </a:lnTo>
                <a:lnTo>
                  <a:pt x="12122939" y="11672352"/>
                </a:lnTo>
                <a:lnTo>
                  <a:pt x="0" y="1167235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1028700" y="404681"/>
            <a:ext cx="7457044" cy="9484317"/>
          </a:xfrm>
          <a:custGeom>
            <a:avLst/>
            <a:gdLst/>
            <a:ahLst/>
            <a:cxnLst/>
            <a:rect l="l" t="t" r="r" b="b"/>
            <a:pathLst>
              <a:path w="7457044" h="9484317">
                <a:moveTo>
                  <a:pt x="0" y="0"/>
                </a:moveTo>
                <a:lnTo>
                  <a:pt x="7457044" y="0"/>
                </a:lnTo>
                <a:lnTo>
                  <a:pt x="7457044" y="9484317"/>
                </a:lnTo>
                <a:lnTo>
                  <a:pt x="0" y="94843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4" name="Freeform 4"/>
          <p:cNvSpPr/>
          <p:nvPr/>
        </p:nvSpPr>
        <p:spPr>
          <a:xfrm>
            <a:off x="9417187" y="404681"/>
            <a:ext cx="8381765" cy="9484317"/>
          </a:xfrm>
          <a:custGeom>
            <a:avLst/>
            <a:gdLst/>
            <a:ahLst/>
            <a:cxnLst/>
            <a:rect l="l" t="t" r="r" b="b"/>
            <a:pathLst>
              <a:path w="8381765" h="9484317">
                <a:moveTo>
                  <a:pt x="0" y="0"/>
                </a:moveTo>
                <a:lnTo>
                  <a:pt x="8381765" y="0"/>
                </a:lnTo>
                <a:lnTo>
                  <a:pt x="8381765" y="9484317"/>
                </a:lnTo>
                <a:lnTo>
                  <a:pt x="0" y="94843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529742" y="98685"/>
            <a:ext cx="7882523" cy="10089630"/>
          </a:xfrm>
          <a:custGeom>
            <a:avLst/>
            <a:gdLst/>
            <a:ahLst/>
            <a:cxnLst/>
            <a:rect l="l" t="t" r="r" b="b"/>
            <a:pathLst>
              <a:path w="7882523" h="10089630">
                <a:moveTo>
                  <a:pt x="0" y="0"/>
                </a:moveTo>
                <a:lnTo>
                  <a:pt x="7882524" y="0"/>
                </a:lnTo>
                <a:lnTo>
                  <a:pt x="7882524" y="10089630"/>
                </a:lnTo>
                <a:lnTo>
                  <a:pt x="0" y="10089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995289" y="407827"/>
            <a:ext cx="7309310" cy="9281663"/>
          </a:xfrm>
          <a:custGeom>
            <a:avLst/>
            <a:gdLst/>
            <a:ahLst/>
            <a:cxnLst/>
            <a:rect l="l" t="t" r="r" b="b"/>
            <a:pathLst>
              <a:path w="7309310" h="9281663">
                <a:moveTo>
                  <a:pt x="0" y="0"/>
                </a:moveTo>
                <a:lnTo>
                  <a:pt x="7309310" y="0"/>
                </a:lnTo>
                <a:lnTo>
                  <a:pt x="7309310" y="9281663"/>
                </a:lnTo>
                <a:lnTo>
                  <a:pt x="0" y="92816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Freeform 3"/>
          <p:cNvSpPr/>
          <p:nvPr/>
        </p:nvSpPr>
        <p:spPr>
          <a:xfrm>
            <a:off x="10298052" y="407827"/>
            <a:ext cx="6961248" cy="9281663"/>
          </a:xfrm>
          <a:custGeom>
            <a:avLst/>
            <a:gdLst/>
            <a:ahLst/>
            <a:cxnLst/>
            <a:rect l="l" t="t" r="r" b="b"/>
            <a:pathLst>
              <a:path w="6961248" h="9281663">
                <a:moveTo>
                  <a:pt x="0" y="0"/>
                </a:moveTo>
                <a:lnTo>
                  <a:pt x="6961248" y="0"/>
                </a:lnTo>
                <a:lnTo>
                  <a:pt x="6961248" y="9281663"/>
                </a:lnTo>
                <a:lnTo>
                  <a:pt x="0" y="9281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397328" y="118740"/>
            <a:ext cx="8240951" cy="10049519"/>
          </a:xfrm>
          <a:custGeom>
            <a:avLst/>
            <a:gdLst/>
            <a:ahLst/>
            <a:cxnLst/>
            <a:rect l="l" t="t" r="r" b="b"/>
            <a:pathLst>
              <a:path w="8240951" h="10049519">
                <a:moveTo>
                  <a:pt x="0" y="0"/>
                </a:moveTo>
                <a:lnTo>
                  <a:pt x="8240952" y="0"/>
                </a:lnTo>
                <a:lnTo>
                  <a:pt x="8240952" y="10049520"/>
                </a:lnTo>
                <a:lnTo>
                  <a:pt x="0" y="100495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11" b="-3616"/>
            </a:stretch>
          </a:blipFill>
        </p:spPr>
        <p:txBody>
          <a:bodyPr/>
          <a:lstStyle/>
          <a:p>
            <a:endParaRPr lang="en-AM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593063" y="2002724"/>
            <a:ext cx="3101873" cy="2326405"/>
          </a:xfrm>
          <a:custGeom>
            <a:avLst/>
            <a:gdLst/>
            <a:ahLst/>
            <a:cxnLst/>
            <a:rect l="l" t="t" r="r" b="b"/>
            <a:pathLst>
              <a:path w="3101873" h="2326405">
                <a:moveTo>
                  <a:pt x="0" y="0"/>
                </a:moveTo>
                <a:lnTo>
                  <a:pt x="3101874" y="0"/>
                </a:lnTo>
                <a:lnTo>
                  <a:pt x="3101874" y="2326405"/>
                </a:lnTo>
                <a:lnTo>
                  <a:pt x="0" y="2326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AM"/>
          </a:p>
        </p:txBody>
      </p:sp>
      <p:sp>
        <p:nvSpPr>
          <p:cNvPr id="3" name="TextBox 3"/>
          <p:cNvSpPr txBox="1"/>
          <p:nvPr/>
        </p:nvSpPr>
        <p:spPr>
          <a:xfrm>
            <a:off x="3797807" y="4630660"/>
            <a:ext cx="10692386" cy="4025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783"/>
              </a:lnSpc>
              <a:spcBef>
                <a:spcPct val="0"/>
              </a:spcBef>
            </a:pPr>
            <a:r>
              <a:rPr lang="en-US" sz="7702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Շնորհակալություն</a:t>
            </a:r>
            <a:endParaRPr lang="en-US" sz="7702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ctr">
              <a:lnSpc>
                <a:spcPts val="10783"/>
              </a:lnSpc>
              <a:spcBef>
                <a:spcPct val="0"/>
              </a:spcBef>
            </a:pPr>
            <a:r>
              <a:rPr lang="en-US" sz="7702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7702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ուշադրության</a:t>
            </a:r>
            <a:r>
              <a:rPr lang="en-US" sz="7702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</a:t>
            </a:r>
            <a:r>
              <a:rPr lang="en-US" sz="7702" dirty="0" err="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համար</a:t>
            </a:r>
            <a:endParaRPr lang="en-US" sz="7702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  <a:p>
            <a:pPr algn="ctr">
              <a:lnSpc>
                <a:spcPts val="10783"/>
              </a:lnSpc>
              <a:spcBef>
                <a:spcPct val="0"/>
              </a:spcBef>
            </a:pPr>
            <a:endParaRPr lang="en-US" sz="7702" dirty="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9A34F6-C516-9634-EC16-CA41188986D6}"/>
              </a:ext>
            </a:extLst>
          </p:cNvPr>
          <p:cNvSpPr txBox="1"/>
          <p:nvPr/>
        </p:nvSpPr>
        <p:spPr>
          <a:xfrm>
            <a:off x="7467600" y="8957661"/>
            <a:ext cx="36576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Repository</a:t>
            </a:r>
            <a:endParaRPr lang="en-AM" sz="35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216</Words>
  <Application>Microsoft Macintosh PowerPoint</Application>
  <PresentationFormat>Custom</PresentationFormat>
  <Paragraphs>24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Canva Sans</vt:lpstr>
      <vt:lpstr>Calibri</vt:lpstr>
      <vt:lpstr>Clear Sans</vt:lpstr>
      <vt:lpstr>Clear Sans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Box-Shaped Surfaces in Road Design</dc:title>
  <dc:description>Presentation - Box-Shaped Surfaces in Road Design</dc:description>
  <cp:lastModifiedBy>Աստղիկ Մարգարյան Արսենի</cp:lastModifiedBy>
  <cp:revision>2</cp:revision>
  <dcterms:created xsi:type="dcterms:W3CDTF">2006-08-16T00:00:00Z</dcterms:created>
  <dcterms:modified xsi:type="dcterms:W3CDTF">2026-03-18T19:23:39Z</dcterms:modified>
  <dc:identifier>DAHEPVDe_9E</dc:identifier>
</cp:coreProperties>
</file>
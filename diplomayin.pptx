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Noto Serif Armenian" charset="1" panose="02020502060505020204"/>
      <p:regular r:id="rId34"/>
    </p:embeddedFont>
    <p:embeddedFont>
      <p:font typeface="Nunito" charset="1" panose="00000000000000000000"/>
      <p:regular r:id="rId35"/>
    </p:embeddedFont>
    <p:embeddedFont>
      <p:font typeface="Kelvinch" charset="1" panose="02050503040506020203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https://github.com/AstxMargaryan/mi_sharq_makerevuytneri_mijocov_avtochanaprhneri_taracakan_modelavorman_masin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8002" y="748034"/>
            <a:ext cx="15742967" cy="68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  <a:spcBef>
                <a:spcPct val="0"/>
              </a:spcBef>
            </a:pPr>
            <a:r>
              <a:rPr lang="en-US" sz="4047">
                <a:solidFill>
                  <a:srgbClr val="000000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ՀԱՅԱՍՏԱՆԻ ԱԶԳԱՅԻՆ ՊՈԼԻՏԵԽՆԻԿԱԿԱՆ  ՀԱՄԱԼՍԱՐԱՆ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92461" y="2227830"/>
            <a:ext cx="6802338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spc="136">
                <a:solidFill>
                  <a:srgbClr val="000000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ԱՎԱՐՏԱԿԱՆ ԱՇԽԱՏԱՆՔ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45186" y="6597647"/>
            <a:ext cx="1605044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-17">
                <a:solidFill>
                  <a:srgbClr val="000000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ՄԹ240 խմբի ուսանողուհի՝ Աստղիկ Մարգարյան Արսենի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-17">
                <a:solidFill>
                  <a:srgbClr val="000000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Աշխատանքի ղեկավար՝ ֆ.մ.գ.թ., դոցենտ Գրիգորի Սերգեյի Մաչկալյան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8118" y="9023350"/>
            <a:ext cx="3791024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spc="268">
                <a:solidFill>
                  <a:srgbClr val="000000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ԵՐԵՎԱՆ 2026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69891" y="714267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7" y="0"/>
                </a:lnTo>
                <a:lnTo>
                  <a:pt x="4714207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5598235" y="6419310"/>
            <a:ext cx="727421" cy="4652110"/>
          </a:xfrm>
          <a:custGeom>
            <a:avLst/>
            <a:gdLst/>
            <a:ahLst/>
            <a:cxnLst/>
            <a:rect r="r" b="b" t="t" l="l"/>
            <a:pathLst>
              <a:path h="4652110" w="727421">
                <a:moveTo>
                  <a:pt x="0" y="0"/>
                </a:moveTo>
                <a:lnTo>
                  <a:pt x="727421" y="0"/>
                </a:lnTo>
                <a:lnTo>
                  <a:pt x="727421" y="4652109"/>
                </a:lnTo>
                <a:lnTo>
                  <a:pt x="0" y="4652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9183898" y="8544550"/>
            <a:ext cx="4675120" cy="4349327"/>
          </a:xfrm>
          <a:custGeom>
            <a:avLst/>
            <a:gdLst/>
            <a:ahLst/>
            <a:cxnLst/>
            <a:rect r="r" b="b" t="t" l="l"/>
            <a:pathLst>
              <a:path h="4349327" w="4675120">
                <a:moveTo>
                  <a:pt x="0" y="0"/>
                </a:moveTo>
                <a:lnTo>
                  <a:pt x="4675120" y="0"/>
                </a:lnTo>
                <a:lnTo>
                  <a:pt x="4675120" y="4349328"/>
                </a:lnTo>
                <a:lnTo>
                  <a:pt x="0" y="4349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734895">
            <a:off x="16755506" y="2051186"/>
            <a:ext cx="4675120" cy="4349327"/>
          </a:xfrm>
          <a:custGeom>
            <a:avLst/>
            <a:gdLst/>
            <a:ahLst/>
            <a:cxnLst/>
            <a:rect r="r" b="b" t="t" l="l"/>
            <a:pathLst>
              <a:path h="4349327" w="4675120">
                <a:moveTo>
                  <a:pt x="0" y="0"/>
                </a:moveTo>
                <a:lnTo>
                  <a:pt x="4675120" y="0"/>
                </a:lnTo>
                <a:lnTo>
                  <a:pt x="4675120" y="4349327"/>
                </a:lnTo>
                <a:lnTo>
                  <a:pt x="0" y="4349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69425">
            <a:off x="16673303" y="-2421656"/>
            <a:ext cx="727421" cy="4652110"/>
          </a:xfrm>
          <a:custGeom>
            <a:avLst/>
            <a:gdLst/>
            <a:ahLst/>
            <a:cxnLst/>
            <a:rect r="r" b="b" t="t" l="l"/>
            <a:pathLst>
              <a:path h="4652110" w="727421">
                <a:moveTo>
                  <a:pt x="0" y="0"/>
                </a:moveTo>
                <a:lnTo>
                  <a:pt x="727420" y="0"/>
                </a:lnTo>
                <a:lnTo>
                  <a:pt x="727420" y="4652109"/>
                </a:lnTo>
                <a:lnTo>
                  <a:pt x="0" y="4652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87213" y="4051298"/>
            <a:ext cx="16050443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spc="200">
                <a:solidFill>
                  <a:srgbClr val="000000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Թեմա՝ Մի շարք մակերևույթների միջոցով </a:t>
            </a:r>
          </a:p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spc="200">
                <a:solidFill>
                  <a:srgbClr val="000000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ավտոճանապարհների տարածական մոդելավորման մասին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8757" y="4882928"/>
            <a:ext cx="4639688" cy="3580309"/>
          </a:xfrm>
          <a:custGeom>
            <a:avLst/>
            <a:gdLst/>
            <a:ahLst/>
            <a:cxnLst/>
            <a:rect r="r" b="b" t="t" l="l"/>
            <a:pathLst>
              <a:path h="3580309" w="4639688">
                <a:moveTo>
                  <a:pt x="0" y="0"/>
                </a:moveTo>
                <a:lnTo>
                  <a:pt x="4639688" y="0"/>
                </a:lnTo>
                <a:lnTo>
                  <a:pt x="4639688" y="3580309"/>
                </a:lnTo>
                <a:lnTo>
                  <a:pt x="0" y="3580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5938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4916089"/>
            <a:ext cx="7364551" cy="3547149"/>
          </a:xfrm>
          <a:custGeom>
            <a:avLst/>
            <a:gdLst/>
            <a:ahLst/>
            <a:cxnLst/>
            <a:rect r="r" b="b" t="t" l="l"/>
            <a:pathLst>
              <a:path h="3547149" w="7364551">
                <a:moveTo>
                  <a:pt x="0" y="0"/>
                </a:moveTo>
                <a:lnTo>
                  <a:pt x="7364551" y="0"/>
                </a:lnTo>
                <a:lnTo>
                  <a:pt x="7364551" y="3547148"/>
                </a:lnTo>
                <a:lnTo>
                  <a:pt x="0" y="3547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413" t="0" r="0" b="-93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86487" y="577500"/>
            <a:ext cx="16619827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Տուփաձև մակերևույթերի կիրառումը ճանապարհաշինության և ճարտարապետության մեջ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8073" y="2911987"/>
            <a:ext cx="16329896" cy="159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212121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Ավարտական աշխատանքում դիտարկվում է ավտոմոբիլային ճանապարհների տարածական նախագծման նոր մաթեմատիկական մեթոդ՝ հիմնված բաց բազմանիստի շարժման արդյունքում ձևավորված տուփաձև մակերևույթների վրա: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14161" y="8831580"/>
            <a:ext cx="10156799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Նկ 1. Մակերևույթի ձևը` ներկայացված ռելիեֆի թվային մոդելով՝ օգտագործելով Դելոնի եռանկյունացումը 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69891" y="714267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7" y="0"/>
                </a:lnTo>
                <a:lnTo>
                  <a:pt x="4714207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2283" y="2125431"/>
            <a:ext cx="9261521" cy="4592769"/>
          </a:xfrm>
          <a:custGeom>
            <a:avLst/>
            <a:gdLst/>
            <a:ahLst/>
            <a:cxnLst/>
            <a:rect r="r" b="b" t="t" l="l"/>
            <a:pathLst>
              <a:path h="4592769" w="9261521">
                <a:moveTo>
                  <a:pt x="0" y="0"/>
                </a:moveTo>
                <a:lnTo>
                  <a:pt x="9261520" y="0"/>
                </a:lnTo>
                <a:lnTo>
                  <a:pt x="9261520" y="4592769"/>
                </a:lnTo>
                <a:lnTo>
                  <a:pt x="0" y="4592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58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70144" y="1028700"/>
            <a:ext cx="6997502" cy="6049331"/>
          </a:xfrm>
          <a:custGeom>
            <a:avLst/>
            <a:gdLst/>
            <a:ahLst/>
            <a:cxnLst/>
            <a:rect r="r" b="b" t="t" l="l"/>
            <a:pathLst>
              <a:path h="6049331" w="6997502">
                <a:moveTo>
                  <a:pt x="0" y="0"/>
                </a:moveTo>
                <a:lnTo>
                  <a:pt x="6997502" y="0"/>
                </a:lnTo>
                <a:lnTo>
                  <a:pt x="6997502" y="6049331"/>
                </a:lnTo>
                <a:lnTo>
                  <a:pt x="0" y="6049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8086" y="7039931"/>
            <a:ext cx="8309913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Նկ. 2.Երթուղին, ներկայացված է բազմանկյունների բաժանման տեսքով՝ հատակագծում և պրոֆիլում (ա)․ ավտոմոբիլային ճանապարհի հենարար կորագիծ մակերևույթի տարրը՝ պրոյեկցիաներում և 3D պատկերում(բ)։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65728" y="7191923"/>
            <a:ext cx="720191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Նկ. 3. Ավտոմոբիլային ճանապարհի երթուղու նախագծային գիծը՝ հատակագծում (վերևում) և պրոֆիլում (ներքևում)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3803791" y="8258197"/>
            <a:ext cx="4675120" cy="4349327"/>
          </a:xfrm>
          <a:custGeom>
            <a:avLst/>
            <a:gdLst/>
            <a:ahLst/>
            <a:cxnLst/>
            <a:rect r="r" b="b" t="t" l="l"/>
            <a:pathLst>
              <a:path h="4349327" w="4675120">
                <a:moveTo>
                  <a:pt x="0" y="0"/>
                </a:moveTo>
                <a:lnTo>
                  <a:pt x="4675120" y="0"/>
                </a:lnTo>
                <a:lnTo>
                  <a:pt x="4675120" y="4349328"/>
                </a:lnTo>
                <a:lnTo>
                  <a:pt x="0" y="4349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262032">
            <a:off x="-1954251" y="-136997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1078" y="1028700"/>
            <a:ext cx="15825979" cy="5822726"/>
          </a:xfrm>
          <a:custGeom>
            <a:avLst/>
            <a:gdLst/>
            <a:ahLst/>
            <a:cxnLst/>
            <a:rect r="r" b="b" t="t" l="l"/>
            <a:pathLst>
              <a:path h="5822726" w="15825979">
                <a:moveTo>
                  <a:pt x="0" y="0"/>
                </a:moveTo>
                <a:lnTo>
                  <a:pt x="15825978" y="0"/>
                </a:lnTo>
                <a:lnTo>
                  <a:pt x="15825978" y="5822726"/>
                </a:lnTo>
                <a:lnTo>
                  <a:pt x="0" y="5822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322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20181" y="7301543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6" y="0"/>
                </a:lnTo>
                <a:lnTo>
                  <a:pt x="4714206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04477" y="6714100"/>
            <a:ext cx="15632579" cy="2815116"/>
          </a:xfrm>
          <a:custGeom>
            <a:avLst/>
            <a:gdLst/>
            <a:ahLst/>
            <a:cxnLst/>
            <a:rect r="r" b="b" t="t" l="l"/>
            <a:pathLst>
              <a:path h="2815116" w="15632579">
                <a:moveTo>
                  <a:pt x="0" y="0"/>
                </a:moveTo>
                <a:lnTo>
                  <a:pt x="15632579" y="0"/>
                </a:lnTo>
                <a:lnTo>
                  <a:pt x="15632579" y="2815116"/>
                </a:lnTo>
                <a:lnTo>
                  <a:pt x="0" y="28151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27" t="0" r="0" b="-1442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43451" y="387350"/>
            <a:ext cx="5801097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9"/>
              </a:lnSpc>
            </a:pPr>
            <a:r>
              <a:rPr lang="en-US" sz="3999" spc="331">
                <a:solidFill>
                  <a:srgbClr val="000000"/>
                </a:solidFill>
                <a:latin typeface="Noto Serif Armenian"/>
                <a:ea typeface="Noto Serif Armenian"/>
                <a:cs typeface="Noto Serif Armenian"/>
                <a:sym typeface="Noto Serif Armenian"/>
              </a:rPr>
              <a:t>Խնդրի ձևակերպումը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5399" y="561187"/>
            <a:ext cx="16372601" cy="2517036"/>
          </a:xfrm>
          <a:custGeom>
            <a:avLst/>
            <a:gdLst/>
            <a:ahLst/>
            <a:cxnLst/>
            <a:rect r="r" b="b" t="t" l="l"/>
            <a:pathLst>
              <a:path h="2517036" w="16372601">
                <a:moveTo>
                  <a:pt x="0" y="0"/>
                </a:moveTo>
                <a:lnTo>
                  <a:pt x="16372601" y="0"/>
                </a:lnTo>
                <a:lnTo>
                  <a:pt x="16372601" y="2517036"/>
                </a:lnTo>
                <a:lnTo>
                  <a:pt x="0" y="2517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8" r="0" b="-13193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55309" y="3078223"/>
            <a:ext cx="8661898" cy="5685070"/>
          </a:xfrm>
          <a:custGeom>
            <a:avLst/>
            <a:gdLst/>
            <a:ahLst/>
            <a:cxnLst/>
            <a:rect r="r" b="b" t="t" l="l"/>
            <a:pathLst>
              <a:path h="5685070" w="8661898">
                <a:moveTo>
                  <a:pt x="0" y="0"/>
                </a:moveTo>
                <a:lnTo>
                  <a:pt x="8661898" y="0"/>
                </a:lnTo>
                <a:lnTo>
                  <a:pt x="8661898" y="5685070"/>
                </a:lnTo>
                <a:lnTo>
                  <a:pt x="0" y="5685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1866" y="8944610"/>
            <a:ext cx="41895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Նկ.4 Բազային ցիկլիկ մակերևույթ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20181" y="7301543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6" y="0"/>
                </a:lnTo>
                <a:lnTo>
                  <a:pt x="4714206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9740" y="690520"/>
            <a:ext cx="16159909" cy="882332"/>
          </a:xfrm>
          <a:custGeom>
            <a:avLst/>
            <a:gdLst/>
            <a:ahLst/>
            <a:cxnLst/>
            <a:rect r="r" b="b" t="t" l="l"/>
            <a:pathLst>
              <a:path h="882332" w="16159909">
                <a:moveTo>
                  <a:pt x="0" y="0"/>
                </a:moveTo>
                <a:lnTo>
                  <a:pt x="16159909" y="0"/>
                </a:lnTo>
                <a:lnTo>
                  <a:pt x="16159909" y="882332"/>
                </a:lnTo>
                <a:lnTo>
                  <a:pt x="0" y="88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0" t="-24537" r="0" b="-2619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55281" y="3091120"/>
            <a:ext cx="6733347" cy="6167180"/>
          </a:xfrm>
          <a:custGeom>
            <a:avLst/>
            <a:gdLst/>
            <a:ahLst/>
            <a:cxnLst/>
            <a:rect r="r" b="b" t="t" l="l"/>
            <a:pathLst>
              <a:path h="6167180" w="6733347">
                <a:moveTo>
                  <a:pt x="0" y="0"/>
                </a:moveTo>
                <a:lnTo>
                  <a:pt x="6733347" y="0"/>
                </a:lnTo>
                <a:lnTo>
                  <a:pt x="6733347" y="6167180"/>
                </a:lnTo>
                <a:lnTo>
                  <a:pt x="0" y="6167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2197" y="690520"/>
            <a:ext cx="16217452" cy="882332"/>
          </a:xfrm>
          <a:custGeom>
            <a:avLst/>
            <a:gdLst/>
            <a:ahLst/>
            <a:cxnLst/>
            <a:rect r="r" b="b" t="t" l="l"/>
            <a:pathLst>
              <a:path h="882332" w="16217452">
                <a:moveTo>
                  <a:pt x="0" y="0"/>
                </a:moveTo>
                <a:lnTo>
                  <a:pt x="16217452" y="0"/>
                </a:lnTo>
                <a:lnTo>
                  <a:pt x="16217452" y="882332"/>
                </a:lnTo>
                <a:lnTo>
                  <a:pt x="0" y="88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" t="-24537" r="0" b="-26192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2343" y="1572852"/>
            <a:ext cx="16908857" cy="1518268"/>
          </a:xfrm>
          <a:custGeom>
            <a:avLst/>
            <a:gdLst/>
            <a:ahLst/>
            <a:cxnLst/>
            <a:rect r="r" b="b" t="t" l="l"/>
            <a:pathLst>
              <a:path h="1518268" w="16908857">
                <a:moveTo>
                  <a:pt x="0" y="0"/>
                </a:moveTo>
                <a:lnTo>
                  <a:pt x="16908857" y="0"/>
                </a:lnTo>
                <a:lnTo>
                  <a:pt x="16908857" y="1518268"/>
                </a:lnTo>
                <a:lnTo>
                  <a:pt x="0" y="1518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4" t="-103862" r="0" b="-325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10708" y="9397256"/>
            <a:ext cx="7666583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Նկ.5 Ցիկլիկ մակերևույթի երկրաչափական մեկնաբանություն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69891" y="714267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7" y="0"/>
                </a:lnTo>
                <a:lnTo>
                  <a:pt x="4714207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78900" y="7065455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6" y="0"/>
                </a:lnTo>
                <a:lnTo>
                  <a:pt x="4714206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8203" y="188510"/>
            <a:ext cx="16809797" cy="3328132"/>
          </a:xfrm>
          <a:custGeom>
            <a:avLst/>
            <a:gdLst/>
            <a:ahLst/>
            <a:cxnLst/>
            <a:rect r="r" b="b" t="t" l="l"/>
            <a:pathLst>
              <a:path h="3328132" w="16809797">
                <a:moveTo>
                  <a:pt x="0" y="0"/>
                </a:moveTo>
                <a:lnTo>
                  <a:pt x="16809797" y="0"/>
                </a:lnTo>
                <a:lnTo>
                  <a:pt x="16809797" y="3328132"/>
                </a:lnTo>
                <a:lnTo>
                  <a:pt x="0" y="33281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13" t="-646" r="-895" b="-21787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77550" y="3430119"/>
            <a:ext cx="12112794" cy="4663301"/>
          </a:xfrm>
          <a:custGeom>
            <a:avLst/>
            <a:gdLst/>
            <a:ahLst/>
            <a:cxnLst/>
            <a:rect r="r" b="b" t="t" l="l"/>
            <a:pathLst>
              <a:path h="4663301" w="12112794">
                <a:moveTo>
                  <a:pt x="0" y="0"/>
                </a:moveTo>
                <a:lnTo>
                  <a:pt x="12112794" y="0"/>
                </a:lnTo>
                <a:lnTo>
                  <a:pt x="12112794" y="4663302"/>
                </a:lnTo>
                <a:lnTo>
                  <a:pt x="0" y="4663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621" t="-92195" r="-22649" b="-4383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30936" y="8173723"/>
            <a:ext cx="15282006" cy="1385544"/>
          </a:xfrm>
          <a:custGeom>
            <a:avLst/>
            <a:gdLst/>
            <a:ahLst/>
            <a:cxnLst/>
            <a:rect r="r" b="b" t="t" l="l"/>
            <a:pathLst>
              <a:path h="1385544" w="15282006">
                <a:moveTo>
                  <a:pt x="0" y="0"/>
                </a:moveTo>
                <a:lnTo>
                  <a:pt x="15282006" y="0"/>
                </a:lnTo>
                <a:lnTo>
                  <a:pt x="15282006" y="1385544"/>
                </a:lnTo>
                <a:lnTo>
                  <a:pt x="0" y="13855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125" t="-607705" r="-935" b="-1903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69891" y="714267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7" y="0"/>
                </a:lnTo>
                <a:lnTo>
                  <a:pt x="4714207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6489" y="216117"/>
            <a:ext cx="15473457" cy="4784043"/>
          </a:xfrm>
          <a:custGeom>
            <a:avLst/>
            <a:gdLst/>
            <a:ahLst/>
            <a:cxnLst/>
            <a:rect r="r" b="b" t="t" l="l"/>
            <a:pathLst>
              <a:path h="4784043" w="15473457">
                <a:moveTo>
                  <a:pt x="0" y="0"/>
                </a:moveTo>
                <a:lnTo>
                  <a:pt x="15473457" y="0"/>
                </a:lnTo>
                <a:lnTo>
                  <a:pt x="15473457" y="4784043"/>
                </a:lnTo>
                <a:lnTo>
                  <a:pt x="0" y="47840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57" t="-5670" r="-2103" b="-11117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36811" y="5143500"/>
            <a:ext cx="6958694" cy="4915775"/>
          </a:xfrm>
          <a:custGeom>
            <a:avLst/>
            <a:gdLst/>
            <a:ahLst/>
            <a:cxnLst/>
            <a:rect r="r" b="b" t="t" l="l"/>
            <a:pathLst>
              <a:path h="4915775" w="6958694">
                <a:moveTo>
                  <a:pt x="0" y="0"/>
                </a:moveTo>
                <a:lnTo>
                  <a:pt x="6958695" y="0"/>
                </a:lnTo>
                <a:lnTo>
                  <a:pt x="6958695" y="4915775"/>
                </a:lnTo>
                <a:lnTo>
                  <a:pt x="0" y="4915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4989" t="-117470" r="-87713" b="-11024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84057" y="465743"/>
            <a:ext cx="6416189" cy="2839514"/>
          </a:xfrm>
          <a:custGeom>
            <a:avLst/>
            <a:gdLst/>
            <a:ahLst/>
            <a:cxnLst/>
            <a:rect r="r" b="b" t="t" l="l"/>
            <a:pathLst>
              <a:path h="2839514" w="6416189">
                <a:moveTo>
                  <a:pt x="0" y="0"/>
                </a:moveTo>
                <a:lnTo>
                  <a:pt x="6416188" y="0"/>
                </a:lnTo>
                <a:lnTo>
                  <a:pt x="6416188" y="2839514"/>
                </a:lnTo>
                <a:lnTo>
                  <a:pt x="0" y="2839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74" t="0" r="-552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5373" y="409946"/>
            <a:ext cx="2813848" cy="2951108"/>
          </a:xfrm>
          <a:custGeom>
            <a:avLst/>
            <a:gdLst/>
            <a:ahLst/>
            <a:cxnLst/>
            <a:rect r="r" b="b" t="t" l="l"/>
            <a:pathLst>
              <a:path h="2951108" w="2813848">
                <a:moveTo>
                  <a:pt x="0" y="0"/>
                </a:moveTo>
                <a:lnTo>
                  <a:pt x="2813847" y="0"/>
                </a:lnTo>
                <a:lnTo>
                  <a:pt x="2813847" y="2951108"/>
                </a:lnTo>
                <a:lnTo>
                  <a:pt x="0" y="2951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24347" y="465743"/>
            <a:ext cx="2826431" cy="2826431"/>
          </a:xfrm>
          <a:custGeom>
            <a:avLst/>
            <a:gdLst/>
            <a:ahLst/>
            <a:cxnLst/>
            <a:rect r="r" b="b" t="t" l="l"/>
            <a:pathLst>
              <a:path h="2826431" w="2826431">
                <a:moveTo>
                  <a:pt x="0" y="0"/>
                </a:moveTo>
                <a:lnTo>
                  <a:pt x="2826431" y="0"/>
                </a:lnTo>
                <a:lnTo>
                  <a:pt x="2826431" y="2826431"/>
                </a:lnTo>
                <a:lnTo>
                  <a:pt x="0" y="2826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63022" y="3361054"/>
            <a:ext cx="13384702" cy="6608697"/>
          </a:xfrm>
          <a:custGeom>
            <a:avLst/>
            <a:gdLst/>
            <a:ahLst/>
            <a:cxnLst/>
            <a:rect r="r" b="b" t="t" l="l"/>
            <a:pathLst>
              <a:path h="6608697" w="13384702">
                <a:moveTo>
                  <a:pt x="0" y="0"/>
                </a:moveTo>
                <a:lnTo>
                  <a:pt x="13384702" y="0"/>
                </a:lnTo>
                <a:lnTo>
                  <a:pt x="13384702" y="6608697"/>
                </a:lnTo>
                <a:lnTo>
                  <a:pt x="0" y="6608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69891" y="714267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7" y="0"/>
                </a:lnTo>
                <a:lnTo>
                  <a:pt x="4714207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0916" y="426066"/>
            <a:ext cx="17047084" cy="9354587"/>
          </a:xfrm>
          <a:custGeom>
            <a:avLst/>
            <a:gdLst/>
            <a:ahLst/>
            <a:cxnLst/>
            <a:rect r="r" b="b" t="t" l="l"/>
            <a:pathLst>
              <a:path h="9354587" w="17047084">
                <a:moveTo>
                  <a:pt x="0" y="0"/>
                </a:moveTo>
                <a:lnTo>
                  <a:pt x="17047084" y="0"/>
                </a:lnTo>
                <a:lnTo>
                  <a:pt x="17047084" y="9354588"/>
                </a:lnTo>
                <a:lnTo>
                  <a:pt x="0" y="9354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69891" y="714267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7" y="0"/>
                </a:lnTo>
                <a:lnTo>
                  <a:pt x="4714207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8203" y="242274"/>
            <a:ext cx="15367202" cy="6900396"/>
          </a:xfrm>
          <a:custGeom>
            <a:avLst/>
            <a:gdLst/>
            <a:ahLst/>
            <a:cxnLst/>
            <a:rect r="r" b="b" t="t" l="l"/>
            <a:pathLst>
              <a:path h="6900396" w="15367202">
                <a:moveTo>
                  <a:pt x="0" y="0"/>
                </a:moveTo>
                <a:lnTo>
                  <a:pt x="15367202" y="0"/>
                </a:lnTo>
                <a:lnTo>
                  <a:pt x="15367202" y="6900396"/>
                </a:lnTo>
                <a:lnTo>
                  <a:pt x="0" y="6900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33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95753" y="10158649"/>
            <a:ext cx="10048249" cy="5046064"/>
          </a:xfrm>
          <a:custGeom>
            <a:avLst/>
            <a:gdLst/>
            <a:ahLst/>
            <a:cxnLst/>
            <a:rect r="r" b="b" t="t" l="l"/>
            <a:pathLst>
              <a:path h="5046064" w="10048249">
                <a:moveTo>
                  <a:pt x="0" y="0"/>
                </a:moveTo>
                <a:lnTo>
                  <a:pt x="10048249" y="0"/>
                </a:lnTo>
                <a:lnTo>
                  <a:pt x="10048249" y="5046064"/>
                </a:lnTo>
                <a:lnTo>
                  <a:pt x="0" y="50460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0396" y="6856795"/>
            <a:ext cx="14962816" cy="959056"/>
          </a:xfrm>
          <a:custGeom>
            <a:avLst/>
            <a:gdLst/>
            <a:ahLst/>
            <a:cxnLst/>
            <a:rect r="r" b="b" t="t" l="l"/>
            <a:pathLst>
              <a:path h="959056" w="14962816">
                <a:moveTo>
                  <a:pt x="0" y="0"/>
                </a:moveTo>
                <a:lnTo>
                  <a:pt x="14962816" y="0"/>
                </a:lnTo>
                <a:lnTo>
                  <a:pt x="14962816" y="959056"/>
                </a:lnTo>
                <a:lnTo>
                  <a:pt x="0" y="959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7" t="-757738" r="0" b="-1015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90561" y="7949358"/>
            <a:ext cx="12342485" cy="1834274"/>
          </a:xfrm>
          <a:custGeom>
            <a:avLst/>
            <a:gdLst/>
            <a:ahLst/>
            <a:cxnLst/>
            <a:rect r="r" b="b" t="t" l="l"/>
            <a:pathLst>
              <a:path h="1834274" w="12342485">
                <a:moveTo>
                  <a:pt x="0" y="0"/>
                </a:moveTo>
                <a:lnTo>
                  <a:pt x="12342485" y="0"/>
                </a:lnTo>
                <a:lnTo>
                  <a:pt x="12342485" y="1834274"/>
                </a:lnTo>
                <a:lnTo>
                  <a:pt x="0" y="1834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69891" y="714267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7" y="0"/>
                </a:lnTo>
                <a:lnTo>
                  <a:pt x="4714207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7728" y="784602"/>
            <a:ext cx="16448670" cy="8717795"/>
          </a:xfrm>
          <a:custGeom>
            <a:avLst/>
            <a:gdLst/>
            <a:ahLst/>
            <a:cxnLst/>
            <a:rect r="r" b="b" t="t" l="l"/>
            <a:pathLst>
              <a:path h="8717795" w="16448670">
                <a:moveTo>
                  <a:pt x="0" y="0"/>
                </a:moveTo>
                <a:lnTo>
                  <a:pt x="16448670" y="0"/>
                </a:lnTo>
                <a:lnTo>
                  <a:pt x="16448670" y="8717796"/>
                </a:lnTo>
                <a:lnTo>
                  <a:pt x="0" y="8717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69891" y="714267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7" y="0"/>
                </a:lnTo>
                <a:lnTo>
                  <a:pt x="4714207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1732" y="2319343"/>
            <a:ext cx="10487543" cy="4842625"/>
          </a:xfrm>
          <a:custGeom>
            <a:avLst/>
            <a:gdLst/>
            <a:ahLst/>
            <a:cxnLst/>
            <a:rect r="r" b="b" t="t" l="l"/>
            <a:pathLst>
              <a:path h="4842625" w="10487543">
                <a:moveTo>
                  <a:pt x="0" y="0"/>
                </a:moveTo>
                <a:lnTo>
                  <a:pt x="10487543" y="0"/>
                </a:lnTo>
                <a:lnTo>
                  <a:pt x="10487543" y="4842625"/>
                </a:lnTo>
                <a:lnTo>
                  <a:pt x="0" y="4842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48" t="-5849" r="0" b="-253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57057" y="6919087"/>
            <a:ext cx="7048694" cy="688999"/>
          </a:xfrm>
          <a:custGeom>
            <a:avLst/>
            <a:gdLst/>
            <a:ahLst/>
            <a:cxnLst/>
            <a:rect r="r" b="b" t="t" l="l"/>
            <a:pathLst>
              <a:path h="688999" w="7048694">
                <a:moveTo>
                  <a:pt x="0" y="0"/>
                </a:moveTo>
                <a:lnTo>
                  <a:pt x="7048694" y="0"/>
                </a:lnTo>
                <a:lnTo>
                  <a:pt x="7048694" y="688999"/>
                </a:lnTo>
                <a:lnTo>
                  <a:pt x="0" y="688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288" t="-67607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49275" y="2319343"/>
            <a:ext cx="6120711" cy="4487582"/>
          </a:xfrm>
          <a:custGeom>
            <a:avLst/>
            <a:gdLst/>
            <a:ahLst/>
            <a:cxnLst/>
            <a:rect r="r" b="b" t="t" l="l"/>
            <a:pathLst>
              <a:path h="4487582" w="6120711">
                <a:moveTo>
                  <a:pt x="0" y="0"/>
                </a:moveTo>
                <a:lnTo>
                  <a:pt x="6120711" y="0"/>
                </a:lnTo>
                <a:lnTo>
                  <a:pt x="6120711" y="4487582"/>
                </a:lnTo>
                <a:lnTo>
                  <a:pt x="0" y="4487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44" t="0" r="-144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44438" y="6857791"/>
            <a:ext cx="1929951" cy="729331"/>
          </a:xfrm>
          <a:custGeom>
            <a:avLst/>
            <a:gdLst/>
            <a:ahLst/>
            <a:cxnLst/>
            <a:rect r="r" b="b" t="t" l="l"/>
            <a:pathLst>
              <a:path h="729331" w="1929951">
                <a:moveTo>
                  <a:pt x="0" y="0"/>
                </a:moveTo>
                <a:lnTo>
                  <a:pt x="1929951" y="0"/>
                </a:lnTo>
                <a:lnTo>
                  <a:pt x="1929951" y="729331"/>
                </a:lnTo>
                <a:lnTo>
                  <a:pt x="0" y="7293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309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31650"/>
            <a:ext cx="16844396" cy="189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  <a:spcBef>
                <a:spcPct val="0"/>
              </a:spcBef>
            </a:pPr>
            <a:r>
              <a:rPr lang="en-US" sz="271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Շվեդիայի Մալմյո քաղաքում կառուցված &lt;&lt; Turning Torso&gt;&gt; երկնաքերը (նկ. 11 ա, բ) անվանվել է «Եվրոպայի ամենաանսովոր երկնաքերը» ։ Վերին հնգանիստ պրիզմայի հարթությունը պտտված է ստորինի նկատմամբ 90°-ով։ Երկրաչափական տեսանկյունից շենքի ձևը կարելի է նկարագրել որպես հնգանիստ գլանաձև տուփաձև մակերևույթ։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936485"/>
            <a:ext cx="16844396" cy="1892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3"/>
              </a:lnSpc>
            </a:pPr>
            <a:r>
              <a:rPr lang="en-US" sz="27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Նկ. 12-ում պատկերված է պարուրաձև քառանիստ գլանաձև տուփաձև մակերևույթ։ Նման ձև ունի «Helixxx Bridge»-ը (նկ. 13)՝ 82 մետր բացվածքով հետիոտնային կամուրջը, որը նախագծվել է ճարտարապետ Էուջենյո Ագլիետիի կողմից՝ Նիդեռլանդների Ամստերդամ քաղաքում գտնվող Էրմիտաժ թանգարանի առջևի մասում կառուցման համար: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88751" y="1559170"/>
            <a:ext cx="9271204" cy="5923270"/>
          </a:xfrm>
          <a:custGeom>
            <a:avLst/>
            <a:gdLst/>
            <a:ahLst/>
            <a:cxnLst/>
            <a:rect r="r" b="b" t="t" l="l"/>
            <a:pathLst>
              <a:path h="5923270" w="9271204">
                <a:moveTo>
                  <a:pt x="0" y="0"/>
                </a:moveTo>
                <a:lnTo>
                  <a:pt x="9271204" y="0"/>
                </a:lnTo>
                <a:lnTo>
                  <a:pt x="9271204" y="5923269"/>
                </a:lnTo>
                <a:lnTo>
                  <a:pt x="0" y="5923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38817" y="7482439"/>
            <a:ext cx="6487272" cy="806560"/>
          </a:xfrm>
          <a:custGeom>
            <a:avLst/>
            <a:gdLst/>
            <a:ahLst/>
            <a:cxnLst/>
            <a:rect r="r" b="b" t="t" l="l"/>
            <a:pathLst>
              <a:path h="806560" w="6487272">
                <a:moveTo>
                  <a:pt x="0" y="0"/>
                </a:moveTo>
                <a:lnTo>
                  <a:pt x="6487272" y="0"/>
                </a:lnTo>
                <a:lnTo>
                  <a:pt x="6487272" y="806560"/>
                </a:lnTo>
                <a:lnTo>
                  <a:pt x="0" y="806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40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1419" y="1502020"/>
            <a:ext cx="8175075" cy="598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5"/>
              </a:lnSpc>
              <a:spcBef>
                <a:spcPct val="0"/>
              </a:spcBef>
            </a:pPr>
            <a:r>
              <a:rPr lang="en-US" sz="283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Դուբայում (ԱՄԷ) (նկ. 19) նախատեսվում է կառուցել ճարտարապետական նախագիծ, որը հավակնում է «նոր աշխարհի հրաշալիք» կոչմանը ։ Այն կլինի 4 աշտարակներից բաղկացած համալիր ՝ 54-ից մինչև 97 հարկ, որոնց ձևը հիշեցնում է վառվող մոմի բոց։  Բազմանիստ ոլորված տուփաձև մակերևույթը՝ որի հիմքի մակերևույթն ունի փոփոխական շառավղով ծնորդ շրջանագծեր, իսկ դրանց կենտրոնների գիծը սինուսոիդ է, որը հիանալի կերպով նկարագրում է համալիրը կազմող շենքերի ձևը (նկ. 20)։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9140" y="2128533"/>
            <a:ext cx="12046956" cy="3538793"/>
          </a:xfrm>
          <a:custGeom>
            <a:avLst/>
            <a:gdLst/>
            <a:ahLst/>
            <a:cxnLst/>
            <a:rect r="r" b="b" t="t" l="l"/>
            <a:pathLst>
              <a:path h="3538793" w="12046956">
                <a:moveTo>
                  <a:pt x="0" y="0"/>
                </a:moveTo>
                <a:lnTo>
                  <a:pt x="12046956" y="0"/>
                </a:lnTo>
                <a:lnTo>
                  <a:pt x="12046956" y="3538793"/>
                </a:lnTo>
                <a:lnTo>
                  <a:pt x="0" y="3538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34981" y="5667326"/>
            <a:ext cx="9715273" cy="664285"/>
          </a:xfrm>
          <a:custGeom>
            <a:avLst/>
            <a:gdLst/>
            <a:ahLst/>
            <a:cxnLst/>
            <a:rect r="r" b="b" t="t" l="l"/>
            <a:pathLst>
              <a:path h="664285" w="9715273">
                <a:moveTo>
                  <a:pt x="0" y="0"/>
                </a:moveTo>
                <a:lnTo>
                  <a:pt x="9715273" y="0"/>
                </a:lnTo>
                <a:lnTo>
                  <a:pt x="9715273" y="664285"/>
                </a:lnTo>
                <a:lnTo>
                  <a:pt x="0" y="664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88" r="0" b="-118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54216" y="7327926"/>
            <a:ext cx="3678909" cy="2358765"/>
          </a:xfrm>
          <a:custGeom>
            <a:avLst/>
            <a:gdLst/>
            <a:ahLst/>
            <a:cxnLst/>
            <a:rect r="r" b="b" t="t" l="l"/>
            <a:pathLst>
              <a:path h="2358765" w="3678909">
                <a:moveTo>
                  <a:pt x="0" y="0"/>
                </a:moveTo>
                <a:lnTo>
                  <a:pt x="3678909" y="0"/>
                </a:lnTo>
                <a:lnTo>
                  <a:pt x="3678909" y="2358765"/>
                </a:lnTo>
                <a:lnTo>
                  <a:pt x="0" y="2358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20" t="0" r="-232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26903" y="9686691"/>
            <a:ext cx="1404495" cy="475716"/>
          </a:xfrm>
          <a:custGeom>
            <a:avLst/>
            <a:gdLst/>
            <a:ahLst/>
            <a:cxnLst/>
            <a:rect r="r" b="b" t="t" l="l"/>
            <a:pathLst>
              <a:path h="475716" w="1404495">
                <a:moveTo>
                  <a:pt x="0" y="0"/>
                </a:moveTo>
                <a:lnTo>
                  <a:pt x="1404495" y="0"/>
                </a:lnTo>
                <a:lnTo>
                  <a:pt x="1404495" y="475716"/>
                </a:lnTo>
                <a:lnTo>
                  <a:pt x="0" y="4757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70713" y="480253"/>
            <a:ext cx="1635778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Իսպանական «Subarquitectura» ստուդիայի ճարտարապետները կարծում են, որ ճարտարապետությունը ցիկլիկ է։ Այդ սկզբունքը պատկերավոր ձևով ցույց տալու համար նրանք ստեղծել են «Casa 360°» համայնապատկերային տունը (նկ. 25, 26, 27)՝ պարույրի կամ գլուխը պոչի վրա հենած օձի տեսքով ։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0713" y="6283986"/>
            <a:ext cx="16043809" cy="135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Երկրաչափական տեսանկյունից այս շենքը կարելի է նկարագրել որպես բազմանիստ կորագիծ տուփաձև մակերևույթ՝ հաստատուն լայնական հատույթով ՝«Արքիմեդյան պարույր» հիմնական ցիկլիկ մակերևույթով (նկ. 28)։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8299" y="3575198"/>
            <a:ext cx="16231443" cy="4483936"/>
          </a:xfrm>
          <a:custGeom>
            <a:avLst/>
            <a:gdLst/>
            <a:ahLst/>
            <a:cxnLst/>
            <a:rect r="r" b="b" t="t" l="l"/>
            <a:pathLst>
              <a:path h="4483936" w="16231443">
                <a:moveTo>
                  <a:pt x="0" y="0"/>
                </a:moveTo>
                <a:lnTo>
                  <a:pt x="16231443" y="0"/>
                </a:lnTo>
                <a:lnTo>
                  <a:pt x="16231443" y="4483936"/>
                </a:lnTo>
                <a:lnTo>
                  <a:pt x="0" y="4483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23663" y="8059134"/>
            <a:ext cx="13779777" cy="762786"/>
          </a:xfrm>
          <a:custGeom>
            <a:avLst/>
            <a:gdLst/>
            <a:ahLst/>
            <a:cxnLst/>
            <a:rect r="r" b="b" t="t" l="l"/>
            <a:pathLst>
              <a:path h="762786" w="13779777">
                <a:moveTo>
                  <a:pt x="0" y="0"/>
                </a:moveTo>
                <a:lnTo>
                  <a:pt x="13779777" y="0"/>
                </a:lnTo>
                <a:lnTo>
                  <a:pt x="13779777" y="762786"/>
                </a:lnTo>
                <a:lnTo>
                  <a:pt x="0" y="762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13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28299" y="1278963"/>
            <a:ext cx="15732248" cy="151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Ցյուրիխում շվեյցարական «Camenzind Evolution Architecture» ընկերությունը կառուցել է անսովոր պարուրաձև տուն(նկ. 40)։  Շենքի երկրաչափական ձևը նման է պարուրաձև քառանիստ տուփաձև մակերևույթին, որը պատկերված է նկ. 42-ում։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69891" y="714267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7" y="0"/>
                </a:lnTo>
                <a:lnTo>
                  <a:pt x="4714207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15418" y="1028700"/>
            <a:ext cx="14348366" cy="7837795"/>
          </a:xfrm>
          <a:custGeom>
            <a:avLst/>
            <a:gdLst/>
            <a:ahLst/>
            <a:cxnLst/>
            <a:rect r="r" b="b" t="t" l="l"/>
            <a:pathLst>
              <a:path h="7837795" w="14348366">
                <a:moveTo>
                  <a:pt x="0" y="0"/>
                </a:moveTo>
                <a:lnTo>
                  <a:pt x="14348366" y="0"/>
                </a:lnTo>
                <a:lnTo>
                  <a:pt x="14348366" y="7837795"/>
                </a:lnTo>
                <a:lnTo>
                  <a:pt x="0" y="7837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782" y="0"/>
            <a:ext cx="7522369" cy="10287000"/>
          </a:xfrm>
          <a:custGeom>
            <a:avLst/>
            <a:gdLst/>
            <a:ahLst/>
            <a:cxnLst/>
            <a:rect r="r" b="b" t="t" l="l"/>
            <a:pathLst>
              <a:path h="10287000" w="7522369">
                <a:moveTo>
                  <a:pt x="0" y="0"/>
                </a:moveTo>
                <a:lnTo>
                  <a:pt x="7522369" y="0"/>
                </a:lnTo>
                <a:lnTo>
                  <a:pt x="752236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38244" y="0"/>
            <a:ext cx="9823755" cy="10287000"/>
          </a:xfrm>
          <a:custGeom>
            <a:avLst/>
            <a:gdLst/>
            <a:ahLst/>
            <a:cxnLst/>
            <a:rect r="r" b="b" t="t" l="l"/>
            <a:pathLst>
              <a:path h="10287000" w="9823755">
                <a:moveTo>
                  <a:pt x="0" y="0"/>
                </a:moveTo>
                <a:lnTo>
                  <a:pt x="9823756" y="0"/>
                </a:lnTo>
                <a:lnTo>
                  <a:pt x="9823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46" t="0" r="-2303" b="-1015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5140" y="0"/>
            <a:ext cx="7527833" cy="10287000"/>
          </a:xfrm>
          <a:custGeom>
            <a:avLst/>
            <a:gdLst/>
            <a:ahLst/>
            <a:cxnLst/>
            <a:rect r="r" b="b" t="t" l="l"/>
            <a:pathLst>
              <a:path h="10287000" w="7527833">
                <a:moveTo>
                  <a:pt x="0" y="0"/>
                </a:moveTo>
                <a:lnTo>
                  <a:pt x="7527833" y="0"/>
                </a:lnTo>
                <a:lnTo>
                  <a:pt x="752783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2" t="0" r="0" b="-31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81547" y="0"/>
            <a:ext cx="9856392" cy="10287000"/>
          </a:xfrm>
          <a:custGeom>
            <a:avLst/>
            <a:gdLst/>
            <a:ahLst/>
            <a:cxnLst/>
            <a:rect r="r" b="b" t="t" l="l"/>
            <a:pathLst>
              <a:path h="10287000" w="9856392">
                <a:moveTo>
                  <a:pt x="0" y="0"/>
                </a:moveTo>
                <a:lnTo>
                  <a:pt x="9856392" y="0"/>
                </a:lnTo>
                <a:lnTo>
                  <a:pt x="98563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586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85832" y="905763"/>
            <a:ext cx="15511190" cy="2846141"/>
          </a:xfrm>
          <a:custGeom>
            <a:avLst/>
            <a:gdLst/>
            <a:ahLst/>
            <a:cxnLst/>
            <a:rect r="r" b="b" t="t" l="l"/>
            <a:pathLst>
              <a:path h="2846141" w="15511190">
                <a:moveTo>
                  <a:pt x="0" y="0"/>
                </a:moveTo>
                <a:lnTo>
                  <a:pt x="15511190" y="0"/>
                </a:lnTo>
                <a:lnTo>
                  <a:pt x="15511190" y="2846141"/>
                </a:lnTo>
                <a:lnTo>
                  <a:pt x="0" y="2846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5" t="-1792" r="0" b="-5751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85832" y="3365486"/>
            <a:ext cx="15511190" cy="4979131"/>
          </a:xfrm>
          <a:custGeom>
            <a:avLst/>
            <a:gdLst/>
            <a:ahLst/>
            <a:cxnLst/>
            <a:rect r="r" b="b" t="t" l="l"/>
            <a:pathLst>
              <a:path h="4979131" w="15511190">
                <a:moveTo>
                  <a:pt x="0" y="0"/>
                </a:moveTo>
                <a:lnTo>
                  <a:pt x="15511190" y="0"/>
                </a:lnTo>
                <a:lnTo>
                  <a:pt x="15511190" y="4979131"/>
                </a:lnTo>
                <a:lnTo>
                  <a:pt x="0" y="4979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9479" r="0" b="-10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69891" y="714267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7" y="0"/>
                </a:lnTo>
                <a:lnTo>
                  <a:pt x="4714207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4116" y="0"/>
            <a:ext cx="7477237" cy="10287000"/>
          </a:xfrm>
          <a:custGeom>
            <a:avLst/>
            <a:gdLst/>
            <a:ahLst/>
            <a:cxnLst/>
            <a:rect r="r" b="b" t="t" l="l"/>
            <a:pathLst>
              <a:path h="10287000" w="7477237">
                <a:moveTo>
                  <a:pt x="0" y="0"/>
                </a:moveTo>
                <a:lnTo>
                  <a:pt x="7477237" y="0"/>
                </a:lnTo>
                <a:lnTo>
                  <a:pt x="747723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4" t="0" r="-460" b="-21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21746" y="248762"/>
            <a:ext cx="7928651" cy="10038238"/>
          </a:xfrm>
          <a:custGeom>
            <a:avLst/>
            <a:gdLst/>
            <a:ahLst/>
            <a:cxnLst/>
            <a:rect r="r" b="b" t="t" l="l"/>
            <a:pathLst>
              <a:path h="10038238" w="7928651">
                <a:moveTo>
                  <a:pt x="0" y="0"/>
                </a:moveTo>
                <a:lnTo>
                  <a:pt x="7928651" y="0"/>
                </a:lnTo>
                <a:lnTo>
                  <a:pt x="7928651" y="10038238"/>
                </a:lnTo>
                <a:lnTo>
                  <a:pt x="0" y="10038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2" t="-914" r="0" b="-5899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8115" y="625896"/>
            <a:ext cx="14280079" cy="3919467"/>
          </a:xfrm>
          <a:custGeom>
            <a:avLst/>
            <a:gdLst/>
            <a:ahLst/>
            <a:cxnLst/>
            <a:rect r="r" b="b" t="t" l="l"/>
            <a:pathLst>
              <a:path h="3919467" w="14280079">
                <a:moveTo>
                  <a:pt x="0" y="0"/>
                </a:moveTo>
                <a:lnTo>
                  <a:pt x="14280079" y="0"/>
                </a:lnTo>
                <a:lnTo>
                  <a:pt x="14280079" y="3919467"/>
                </a:lnTo>
                <a:lnTo>
                  <a:pt x="0" y="3919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3" b="-33250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88978" y="4353552"/>
            <a:ext cx="13909216" cy="4572223"/>
          </a:xfrm>
          <a:custGeom>
            <a:avLst/>
            <a:gdLst/>
            <a:ahLst/>
            <a:cxnLst/>
            <a:rect r="r" b="b" t="t" l="l"/>
            <a:pathLst>
              <a:path h="4572223" w="13909216">
                <a:moveTo>
                  <a:pt x="0" y="0"/>
                </a:moveTo>
                <a:lnTo>
                  <a:pt x="13909216" y="0"/>
                </a:lnTo>
                <a:lnTo>
                  <a:pt x="13909216" y="4572222"/>
                </a:lnTo>
                <a:lnTo>
                  <a:pt x="0" y="45722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5" t="-269082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65125" y="5803744"/>
            <a:ext cx="6029191" cy="4048532"/>
          </a:xfrm>
          <a:custGeom>
            <a:avLst/>
            <a:gdLst/>
            <a:ahLst/>
            <a:cxnLst/>
            <a:rect r="r" b="b" t="t" l="l"/>
            <a:pathLst>
              <a:path h="4048532" w="6029191">
                <a:moveTo>
                  <a:pt x="0" y="0"/>
                </a:moveTo>
                <a:lnTo>
                  <a:pt x="6029191" y="0"/>
                </a:lnTo>
                <a:lnTo>
                  <a:pt x="6029191" y="4048532"/>
                </a:lnTo>
                <a:lnTo>
                  <a:pt x="0" y="4048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09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9891" y="714267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7" y="0"/>
                </a:lnTo>
                <a:lnTo>
                  <a:pt x="4714207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661" y="1258980"/>
            <a:ext cx="5870580" cy="7769040"/>
          </a:xfrm>
          <a:custGeom>
            <a:avLst/>
            <a:gdLst/>
            <a:ahLst/>
            <a:cxnLst/>
            <a:rect r="r" b="b" t="t" l="l"/>
            <a:pathLst>
              <a:path h="7769040" w="5870580">
                <a:moveTo>
                  <a:pt x="0" y="0"/>
                </a:moveTo>
                <a:lnTo>
                  <a:pt x="5870580" y="0"/>
                </a:lnTo>
                <a:lnTo>
                  <a:pt x="5870580" y="7769040"/>
                </a:lnTo>
                <a:lnTo>
                  <a:pt x="0" y="7769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01" t="0" r="-2687" b="-42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25712" y="1258980"/>
            <a:ext cx="5440947" cy="7769040"/>
          </a:xfrm>
          <a:custGeom>
            <a:avLst/>
            <a:gdLst/>
            <a:ahLst/>
            <a:cxnLst/>
            <a:rect r="r" b="b" t="t" l="l"/>
            <a:pathLst>
              <a:path h="7769040" w="5440947">
                <a:moveTo>
                  <a:pt x="0" y="0"/>
                </a:moveTo>
                <a:lnTo>
                  <a:pt x="5440947" y="0"/>
                </a:lnTo>
                <a:lnTo>
                  <a:pt x="5440947" y="7769040"/>
                </a:lnTo>
                <a:lnTo>
                  <a:pt x="0" y="776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13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52409" y="2122759"/>
            <a:ext cx="5974726" cy="6041483"/>
          </a:xfrm>
          <a:custGeom>
            <a:avLst/>
            <a:gdLst/>
            <a:ahLst/>
            <a:cxnLst/>
            <a:rect r="r" b="b" t="t" l="l"/>
            <a:pathLst>
              <a:path h="6041483" w="5974726">
                <a:moveTo>
                  <a:pt x="0" y="0"/>
                </a:moveTo>
                <a:lnTo>
                  <a:pt x="5974726" y="0"/>
                </a:lnTo>
                <a:lnTo>
                  <a:pt x="5974726" y="6041482"/>
                </a:lnTo>
                <a:lnTo>
                  <a:pt x="0" y="604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9570" y="0"/>
            <a:ext cx="8088154" cy="10287000"/>
          </a:xfrm>
          <a:custGeom>
            <a:avLst/>
            <a:gdLst/>
            <a:ahLst/>
            <a:cxnLst/>
            <a:rect r="r" b="b" t="t" l="l"/>
            <a:pathLst>
              <a:path h="10287000" w="8088154">
                <a:moveTo>
                  <a:pt x="0" y="0"/>
                </a:moveTo>
                <a:lnTo>
                  <a:pt x="8088154" y="0"/>
                </a:lnTo>
                <a:lnTo>
                  <a:pt x="808815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65452" y="404681"/>
            <a:ext cx="8733500" cy="9882319"/>
          </a:xfrm>
          <a:custGeom>
            <a:avLst/>
            <a:gdLst/>
            <a:ahLst/>
            <a:cxnLst/>
            <a:rect r="r" b="b" t="t" l="l"/>
            <a:pathLst>
              <a:path h="9882319" w="8733500">
                <a:moveTo>
                  <a:pt x="0" y="0"/>
                </a:moveTo>
                <a:lnTo>
                  <a:pt x="8733500" y="0"/>
                </a:lnTo>
                <a:lnTo>
                  <a:pt x="8733500" y="9882319"/>
                </a:lnTo>
                <a:lnTo>
                  <a:pt x="0" y="98823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4316" y="4383362"/>
            <a:ext cx="9887122" cy="5903638"/>
          </a:xfrm>
          <a:custGeom>
            <a:avLst/>
            <a:gdLst/>
            <a:ahLst/>
            <a:cxnLst/>
            <a:rect r="r" b="b" t="t" l="l"/>
            <a:pathLst>
              <a:path h="5903638" w="9887122">
                <a:moveTo>
                  <a:pt x="0" y="0"/>
                </a:moveTo>
                <a:lnTo>
                  <a:pt x="9887121" y="0"/>
                </a:lnTo>
                <a:lnTo>
                  <a:pt x="9887121" y="5903638"/>
                </a:lnTo>
                <a:lnTo>
                  <a:pt x="0" y="5903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9" t="-11927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5626" y="125884"/>
            <a:ext cx="10490009" cy="4074781"/>
          </a:xfrm>
          <a:custGeom>
            <a:avLst/>
            <a:gdLst/>
            <a:ahLst/>
            <a:cxnLst/>
            <a:rect r="r" b="b" t="t" l="l"/>
            <a:pathLst>
              <a:path h="4074781" w="10490009">
                <a:moveTo>
                  <a:pt x="0" y="0"/>
                </a:moveTo>
                <a:lnTo>
                  <a:pt x="10490009" y="0"/>
                </a:lnTo>
                <a:lnTo>
                  <a:pt x="10490009" y="4074781"/>
                </a:lnTo>
                <a:lnTo>
                  <a:pt x="0" y="4074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2951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30466">
            <a:off x="575547" y="-131006"/>
            <a:ext cx="722751" cy="4622243"/>
          </a:xfrm>
          <a:custGeom>
            <a:avLst/>
            <a:gdLst/>
            <a:ahLst/>
            <a:cxnLst/>
            <a:rect r="r" b="b" t="t" l="l"/>
            <a:pathLst>
              <a:path h="4622243" w="722751">
                <a:moveTo>
                  <a:pt x="0" y="0"/>
                </a:moveTo>
                <a:lnTo>
                  <a:pt x="722751" y="0"/>
                </a:lnTo>
                <a:lnTo>
                  <a:pt x="722751" y="4622243"/>
                </a:lnTo>
                <a:lnTo>
                  <a:pt x="0" y="4622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62032">
            <a:off x="-3761439" y="4307682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4385690"/>
                </a:moveTo>
                <a:lnTo>
                  <a:pt x="4714206" y="4385690"/>
                </a:lnTo>
                <a:lnTo>
                  <a:pt x="4714206" y="0"/>
                </a:lnTo>
                <a:lnTo>
                  <a:pt x="0" y="0"/>
                </a:lnTo>
                <a:lnTo>
                  <a:pt x="0" y="438569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69891" y="7142670"/>
            <a:ext cx="4714206" cy="4385690"/>
          </a:xfrm>
          <a:custGeom>
            <a:avLst/>
            <a:gdLst/>
            <a:ahLst/>
            <a:cxnLst/>
            <a:rect r="r" b="b" t="t" l="l"/>
            <a:pathLst>
              <a:path h="4385690" w="4714206">
                <a:moveTo>
                  <a:pt x="0" y="0"/>
                </a:moveTo>
                <a:lnTo>
                  <a:pt x="4714207" y="0"/>
                </a:lnTo>
                <a:lnTo>
                  <a:pt x="4714207" y="4385690"/>
                </a:lnTo>
                <a:lnTo>
                  <a:pt x="0" y="4385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7353" y="0"/>
            <a:ext cx="8014180" cy="10176737"/>
          </a:xfrm>
          <a:custGeom>
            <a:avLst/>
            <a:gdLst/>
            <a:ahLst/>
            <a:cxnLst/>
            <a:rect r="r" b="b" t="t" l="l"/>
            <a:pathLst>
              <a:path h="10176737" w="8014180">
                <a:moveTo>
                  <a:pt x="0" y="0"/>
                </a:moveTo>
                <a:lnTo>
                  <a:pt x="8014180" y="0"/>
                </a:lnTo>
                <a:lnTo>
                  <a:pt x="8014180" y="10176737"/>
                </a:lnTo>
                <a:lnTo>
                  <a:pt x="0" y="10176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87240" y="228646"/>
            <a:ext cx="7461068" cy="9948090"/>
          </a:xfrm>
          <a:custGeom>
            <a:avLst/>
            <a:gdLst/>
            <a:ahLst/>
            <a:cxnLst/>
            <a:rect r="r" b="b" t="t" l="l"/>
            <a:pathLst>
              <a:path h="9948090" w="7461068">
                <a:moveTo>
                  <a:pt x="0" y="0"/>
                </a:moveTo>
                <a:lnTo>
                  <a:pt x="7461068" y="0"/>
                </a:lnTo>
                <a:lnTo>
                  <a:pt x="7461068" y="9948091"/>
                </a:lnTo>
                <a:lnTo>
                  <a:pt x="0" y="9948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087" y="0"/>
            <a:ext cx="8913827" cy="3855992"/>
          </a:xfrm>
          <a:custGeom>
            <a:avLst/>
            <a:gdLst/>
            <a:ahLst/>
            <a:cxnLst/>
            <a:rect r="r" b="b" t="t" l="l"/>
            <a:pathLst>
              <a:path h="3855992" w="8913827">
                <a:moveTo>
                  <a:pt x="0" y="0"/>
                </a:moveTo>
                <a:lnTo>
                  <a:pt x="8913826" y="0"/>
                </a:lnTo>
                <a:lnTo>
                  <a:pt x="8913826" y="3855992"/>
                </a:lnTo>
                <a:lnTo>
                  <a:pt x="0" y="3855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61" t="0" r="-1616" b="-2062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20020" y="3979443"/>
            <a:ext cx="12761515" cy="5981478"/>
          </a:xfrm>
          <a:custGeom>
            <a:avLst/>
            <a:gdLst/>
            <a:ahLst/>
            <a:cxnLst/>
            <a:rect r="r" b="b" t="t" l="l"/>
            <a:pathLst>
              <a:path h="5981478" w="12761515">
                <a:moveTo>
                  <a:pt x="0" y="0"/>
                </a:moveTo>
                <a:lnTo>
                  <a:pt x="12761516" y="0"/>
                </a:lnTo>
                <a:lnTo>
                  <a:pt x="12761516" y="5981478"/>
                </a:lnTo>
                <a:lnTo>
                  <a:pt x="0" y="5981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24" t="-88786" r="0" b="-8645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83373" y="78360"/>
            <a:ext cx="10272229" cy="3901083"/>
          </a:xfrm>
          <a:custGeom>
            <a:avLst/>
            <a:gdLst/>
            <a:ahLst/>
            <a:cxnLst/>
            <a:rect r="r" b="b" t="t" l="l"/>
            <a:pathLst>
              <a:path h="3901083" w="10272229">
                <a:moveTo>
                  <a:pt x="0" y="0"/>
                </a:moveTo>
                <a:lnTo>
                  <a:pt x="10272228" y="0"/>
                </a:lnTo>
                <a:lnTo>
                  <a:pt x="10272228" y="3901083"/>
                </a:lnTo>
                <a:lnTo>
                  <a:pt x="0" y="3901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33" t="-228932" r="0" b="-11464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3445" y="8676055"/>
            <a:ext cx="7097287" cy="846743"/>
            <a:chOff x="0" y="0"/>
            <a:chExt cx="340639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06392" cy="406400"/>
            </a:xfrm>
            <a:custGeom>
              <a:avLst/>
              <a:gdLst/>
              <a:ahLst/>
              <a:cxnLst/>
              <a:rect r="r" b="b" t="t" l="l"/>
              <a:pathLst>
                <a:path h="406400" w="3406392">
                  <a:moveTo>
                    <a:pt x="3203192" y="0"/>
                  </a:moveTo>
                  <a:cubicBezTo>
                    <a:pt x="3315416" y="0"/>
                    <a:pt x="3406392" y="90976"/>
                    <a:pt x="3406392" y="203200"/>
                  </a:cubicBezTo>
                  <a:cubicBezTo>
                    <a:pt x="3406392" y="315424"/>
                    <a:pt x="3315416" y="406400"/>
                    <a:pt x="320319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236D8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0639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888795" y="9080376"/>
            <a:ext cx="6492240" cy="0"/>
          </a:xfrm>
          <a:prstGeom prst="line">
            <a:avLst/>
          </a:prstGeom>
          <a:ln cap="flat" w="19050">
            <a:solidFill>
              <a:srgbClr val="236D8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2700732" y="9070851"/>
            <a:ext cx="6492240" cy="0"/>
          </a:xfrm>
          <a:prstGeom prst="line">
            <a:avLst/>
          </a:prstGeom>
          <a:ln cap="flat" w="19050">
            <a:solidFill>
              <a:srgbClr val="236D8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4655455" y="5010150"/>
            <a:ext cx="8977089" cy="236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1"/>
              </a:lnSpc>
              <a:spcBef>
                <a:spcPct val="0"/>
              </a:spcBef>
            </a:pPr>
            <a:r>
              <a:rPr lang="en-US" sz="6793">
                <a:solidFill>
                  <a:srgbClr val="4891AB"/>
                </a:solidFill>
                <a:latin typeface="Kelvinch"/>
                <a:ea typeface="Kelvinch"/>
                <a:cs typeface="Kelvinch"/>
                <a:sym typeface="Kelvinch"/>
              </a:rPr>
              <a:t>Շնորհակալություն</a:t>
            </a:r>
            <a:r>
              <a:rPr lang="en-US" sz="6793">
                <a:solidFill>
                  <a:srgbClr val="4891AB"/>
                </a:solidFill>
                <a:latin typeface="Kelvinch"/>
                <a:ea typeface="Kelvinch"/>
                <a:cs typeface="Kelvinch"/>
                <a:sym typeface="Kelvinch"/>
              </a:rPr>
              <a:t> </a:t>
            </a:r>
          </a:p>
          <a:p>
            <a:pPr algn="ctr">
              <a:lnSpc>
                <a:spcPts val="9511"/>
              </a:lnSpc>
              <a:spcBef>
                <a:spcPct val="0"/>
              </a:spcBef>
            </a:pPr>
            <a:r>
              <a:rPr lang="en-US" sz="6793">
                <a:solidFill>
                  <a:srgbClr val="4891AB"/>
                </a:solidFill>
                <a:latin typeface="Kelvinch"/>
                <a:ea typeface="Kelvinch"/>
                <a:cs typeface="Kelvinch"/>
                <a:sym typeface="Kelvinch"/>
              </a:rPr>
              <a:t>ուշադրության համար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341974" y="1028700"/>
            <a:ext cx="3604051" cy="3635865"/>
          </a:xfrm>
          <a:custGeom>
            <a:avLst/>
            <a:gdLst/>
            <a:ahLst/>
            <a:cxnLst/>
            <a:rect r="r" b="b" t="t" l="l"/>
            <a:pathLst>
              <a:path h="3635865" w="3604051">
                <a:moveTo>
                  <a:pt x="0" y="0"/>
                </a:moveTo>
                <a:lnTo>
                  <a:pt x="3604052" y="0"/>
                </a:lnTo>
                <a:lnTo>
                  <a:pt x="3604052" y="3635865"/>
                </a:lnTo>
                <a:lnTo>
                  <a:pt x="0" y="3635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79270" y="8710731"/>
            <a:ext cx="4129460" cy="66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1"/>
              </a:lnSpc>
              <a:spcBef>
                <a:spcPct val="0"/>
              </a:spcBef>
            </a:pPr>
            <a:r>
              <a:rPr lang="en-US" sz="3894" u="sng">
                <a:solidFill>
                  <a:srgbClr val="4891AB"/>
                </a:solidFill>
                <a:latin typeface="Kelvinch"/>
                <a:ea typeface="Kelvinch"/>
                <a:cs typeface="Kelvinch"/>
                <a:sym typeface="Kelvinch"/>
                <a:hlinkClick r:id="rId3" tooltip="https://github.com/AstxMargaryan/mi_sharq_makerevuytneri_mijocov_avtochanaprhneri_taracakan_modelavorman_masin"/>
              </a:rPr>
              <a:t>GitHub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DAHI7TP3CXc</dc:identifier>
  <dcterms:modified xsi:type="dcterms:W3CDTF">2011-08-01T06:04:30Z</dcterms:modified>
  <cp:revision>1</cp:revision>
  <dc:title>diplomayin</dc:title>
</cp:coreProperties>
</file>